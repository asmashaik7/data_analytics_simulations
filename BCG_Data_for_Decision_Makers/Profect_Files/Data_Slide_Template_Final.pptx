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2" d="100"/>
          <a:sy n="82" d="100"/>
        </p:scale>
        <p:origin x="629"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JOB%20SIMULATIONS\BCG%20introductory\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JOB%20SIMULATIONS\BCG%20introductory\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JOB%20SIMULATIONS\BCG%20introductory\Campaign_Data_Week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[Campaign_Data_Week1.xlsx]Customer_Sales_Analysis!PivotTable3</c:name>
    <c:fmtId val="10"/>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Customer_Sales_Analysis!$B$3:$B$4</c:f>
              <c:strCache>
                <c:ptCount val="1"/>
                <c:pt idx="0">
                  <c:v>Email</c:v>
                </c:pt>
              </c:strCache>
            </c:strRef>
          </c:tx>
          <c:spPr>
            <a:solidFill>
              <a:schemeClr val="accent1"/>
            </a:solidFill>
            <a:ln>
              <a:noFill/>
            </a:ln>
            <a:effectLst/>
          </c:spPr>
          <c:invertIfNegative val="0"/>
          <c:cat>
            <c:strRef>
              <c:f>Customer_Sales_Analysis!$A$5:$A$7</c:f>
              <c:strCache>
                <c:ptCount val="2"/>
                <c:pt idx="0">
                  <c:v>A</c:v>
                </c:pt>
                <c:pt idx="1">
                  <c:v>B</c:v>
                </c:pt>
              </c:strCache>
            </c:strRef>
          </c:cat>
          <c:val>
            <c:numRef>
              <c:f>Customer_Sales_Analysis!$B$5:$B$7</c:f>
              <c:numCache>
                <c:formatCode>General</c:formatCode>
                <c:ptCount val="2"/>
                <c:pt idx="0">
                  <c:v>2124.4700000000003</c:v>
                </c:pt>
                <c:pt idx="1">
                  <c:v>1382.3799999999999</c:v>
                </c:pt>
              </c:numCache>
            </c:numRef>
          </c:val>
          <c:extLst>
            <c:ext xmlns:c16="http://schemas.microsoft.com/office/drawing/2014/chart" uri="{C3380CC4-5D6E-409C-BE32-E72D297353CC}">
              <c16:uniqueId val="{00000000-93DA-4920-8DF1-0D9B8609B756}"/>
            </c:ext>
          </c:extLst>
        </c:ser>
        <c:ser>
          <c:idx val="1"/>
          <c:order val="1"/>
          <c:tx>
            <c:strRef>
              <c:f>Customer_Sales_Analysis!$C$3:$C$4</c:f>
              <c:strCache>
                <c:ptCount val="1"/>
                <c:pt idx="0">
                  <c:v>Instagram</c:v>
                </c:pt>
              </c:strCache>
            </c:strRef>
          </c:tx>
          <c:spPr>
            <a:solidFill>
              <a:schemeClr val="accent2"/>
            </a:solidFill>
            <a:ln>
              <a:noFill/>
            </a:ln>
            <a:effectLst/>
          </c:spPr>
          <c:invertIfNegative val="0"/>
          <c:cat>
            <c:strRef>
              <c:f>Customer_Sales_Analysis!$A$5:$A$7</c:f>
              <c:strCache>
                <c:ptCount val="2"/>
                <c:pt idx="0">
                  <c:v>A</c:v>
                </c:pt>
                <c:pt idx="1">
                  <c:v>B</c:v>
                </c:pt>
              </c:strCache>
            </c:strRef>
          </c:cat>
          <c:val>
            <c:numRef>
              <c:f>Customer_Sales_Analysis!$C$5:$C$7</c:f>
              <c:numCache>
                <c:formatCode>General</c:formatCode>
                <c:ptCount val="2"/>
                <c:pt idx="0">
                  <c:v>969.46</c:v>
                </c:pt>
                <c:pt idx="1">
                  <c:v>416.14</c:v>
                </c:pt>
              </c:numCache>
            </c:numRef>
          </c:val>
          <c:extLst>
            <c:ext xmlns:c16="http://schemas.microsoft.com/office/drawing/2014/chart" uri="{C3380CC4-5D6E-409C-BE32-E72D297353CC}">
              <c16:uniqueId val="{00000001-93DA-4920-8DF1-0D9B8609B756}"/>
            </c:ext>
          </c:extLst>
        </c:ser>
        <c:ser>
          <c:idx val="2"/>
          <c:order val="2"/>
          <c:tx>
            <c:strRef>
              <c:f>Customer_Sales_Analysis!$D$3:$D$4</c:f>
              <c:strCache>
                <c:ptCount val="1"/>
                <c:pt idx="0">
                  <c:v>Web Banner</c:v>
                </c:pt>
              </c:strCache>
            </c:strRef>
          </c:tx>
          <c:spPr>
            <a:solidFill>
              <a:schemeClr val="accent3"/>
            </a:solidFill>
            <a:ln>
              <a:noFill/>
            </a:ln>
            <a:effectLst/>
          </c:spPr>
          <c:invertIfNegative val="0"/>
          <c:cat>
            <c:strRef>
              <c:f>Customer_Sales_Analysis!$A$5:$A$7</c:f>
              <c:strCache>
                <c:ptCount val="2"/>
                <c:pt idx="0">
                  <c:v>A</c:v>
                </c:pt>
                <c:pt idx="1">
                  <c:v>B</c:v>
                </c:pt>
              </c:strCache>
            </c:strRef>
          </c:cat>
          <c:val>
            <c:numRef>
              <c:f>Customer_Sales_Analysis!$D$5:$D$7</c:f>
              <c:numCache>
                <c:formatCode>General</c:formatCode>
                <c:ptCount val="2"/>
                <c:pt idx="0">
                  <c:v>633.06000000000006</c:v>
                </c:pt>
                <c:pt idx="1">
                  <c:v>318.92000000000007</c:v>
                </c:pt>
              </c:numCache>
            </c:numRef>
          </c:val>
          <c:extLst>
            <c:ext xmlns:c16="http://schemas.microsoft.com/office/drawing/2014/chart" uri="{C3380CC4-5D6E-409C-BE32-E72D297353CC}">
              <c16:uniqueId val="{00000002-93DA-4920-8DF1-0D9B8609B756}"/>
            </c:ext>
          </c:extLst>
        </c:ser>
        <c:dLbls>
          <c:showLegendKey val="0"/>
          <c:showVal val="0"/>
          <c:showCatName val="0"/>
          <c:showSerName val="0"/>
          <c:showPercent val="0"/>
          <c:showBubbleSize val="0"/>
        </c:dLbls>
        <c:gapWidth val="219"/>
        <c:overlap val="-27"/>
        <c:axId val="814767984"/>
        <c:axId val="814769904"/>
      </c:barChart>
      <c:catAx>
        <c:axId val="814767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769904"/>
        <c:crosses val="autoZero"/>
        <c:auto val="1"/>
        <c:lblAlgn val="ctr"/>
        <c:lblOffset val="100"/>
        <c:noMultiLvlLbl val="0"/>
      </c:catAx>
      <c:valAx>
        <c:axId val="814769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7679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[Campaign_Data_Week1.xlsx]new customer-campaign type!PivotTable3</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'new customer-campaign type'!$B$3</c:f>
              <c:strCache>
                <c:ptCount val="1"/>
                <c:pt idx="0">
                  <c:v>Total</c:v>
                </c:pt>
              </c:strCache>
            </c:strRef>
          </c:tx>
          <c:spPr>
            <a:solidFill>
              <a:schemeClr val="accent1"/>
            </a:solidFill>
            <a:ln>
              <a:noFill/>
            </a:ln>
            <a:effectLst/>
          </c:spPr>
          <c:invertIfNegative val="0"/>
          <c:cat>
            <c:strRef>
              <c:f>'new customer-campaign type'!$A$4:$A$6</c:f>
              <c:strCache>
                <c:ptCount val="2"/>
                <c:pt idx="0">
                  <c:v>A</c:v>
                </c:pt>
                <c:pt idx="1">
                  <c:v>B</c:v>
                </c:pt>
              </c:strCache>
            </c:strRef>
          </c:cat>
          <c:val>
            <c:numRef>
              <c:f>'new customer-campaign type'!$B$4:$B$6</c:f>
              <c:numCache>
                <c:formatCode>General</c:formatCode>
                <c:ptCount val="2"/>
                <c:pt idx="0">
                  <c:v>3726.9900000000002</c:v>
                </c:pt>
                <c:pt idx="1">
                  <c:v>2117.44</c:v>
                </c:pt>
              </c:numCache>
            </c:numRef>
          </c:val>
          <c:extLst>
            <c:ext xmlns:c16="http://schemas.microsoft.com/office/drawing/2014/chart" uri="{C3380CC4-5D6E-409C-BE32-E72D297353CC}">
              <c16:uniqueId val="{00000000-99EE-477B-AF03-D9E213F1E281}"/>
            </c:ext>
          </c:extLst>
        </c:ser>
        <c:dLbls>
          <c:showLegendKey val="0"/>
          <c:showVal val="0"/>
          <c:showCatName val="0"/>
          <c:showSerName val="0"/>
          <c:showPercent val="0"/>
          <c:showBubbleSize val="0"/>
        </c:dLbls>
        <c:gapWidth val="219"/>
        <c:overlap val="-27"/>
        <c:axId val="958263344"/>
        <c:axId val="958283024"/>
      </c:barChart>
      <c:catAx>
        <c:axId val="95826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8283024"/>
        <c:crosses val="autoZero"/>
        <c:auto val="1"/>
        <c:lblAlgn val="ctr"/>
        <c:lblOffset val="100"/>
        <c:noMultiLvlLbl val="0"/>
      </c:catAx>
      <c:valAx>
        <c:axId val="958283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82633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[Campaign_Data_Week1.xlsx]Time_on_site!PivotTable1</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Time_on_site!$B$3:$B$4</c:f>
              <c:strCache>
                <c:ptCount val="1"/>
                <c:pt idx="0">
                  <c:v>A</c:v>
                </c:pt>
              </c:strCache>
            </c:strRef>
          </c:tx>
          <c:spPr>
            <a:solidFill>
              <a:schemeClr val="accent1"/>
            </a:solidFill>
            <a:ln>
              <a:noFill/>
            </a:ln>
            <a:effectLst/>
          </c:spPr>
          <c:invertIfNegative val="0"/>
          <c:cat>
            <c:strRef>
              <c:f>Time_on_site!$A$5:$A$8</c:f>
              <c:strCache>
                <c:ptCount val="3"/>
                <c:pt idx="0">
                  <c:v>Email</c:v>
                </c:pt>
                <c:pt idx="1">
                  <c:v>Instagram</c:v>
                </c:pt>
                <c:pt idx="2">
                  <c:v>Web Banner</c:v>
                </c:pt>
              </c:strCache>
            </c:strRef>
          </c:cat>
          <c:val>
            <c:numRef>
              <c:f>Time_on_site!$B$5:$B$8</c:f>
              <c:numCache>
                <c:formatCode>0.00</c:formatCode>
                <c:ptCount val="3"/>
                <c:pt idx="0">
                  <c:v>42.967894736842098</c:v>
                </c:pt>
                <c:pt idx="1">
                  <c:v>48.829791666666665</c:v>
                </c:pt>
                <c:pt idx="2">
                  <c:v>44.153589743589734</c:v>
                </c:pt>
              </c:numCache>
            </c:numRef>
          </c:val>
          <c:extLst>
            <c:ext xmlns:c16="http://schemas.microsoft.com/office/drawing/2014/chart" uri="{C3380CC4-5D6E-409C-BE32-E72D297353CC}">
              <c16:uniqueId val="{00000000-C3A4-4DB7-9D33-9FEE744775B7}"/>
            </c:ext>
          </c:extLst>
        </c:ser>
        <c:ser>
          <c:idx val="1"/>
          <c:order val="1"/>
          <c:tx>
            <c:strRef>
              <c:f>Time_on_site!$C$3:$C$4</c:f>
              <c:strCache>
                <c:ptCount val="1"/>
                <c:pt idx="0">
                  <c:v>B</c:v>
                </c:pt>
              </c:strCache>
            </c:strRef>
          </c:tx>
          <c:spPr>
            <a:solidFill>
              <a:schemeClr val="accent2"/>
            </a:solidFill>
            <a:ln>
              <a:noFill/>
            </a:ln>
            <a:effectLst/>
          </c:spPr>
          <c:invertIfNegative val="0"/>
          <c:cat>
            <c:strRef>
              <c:f>Time_on_site!$A$5:$A$8</c:f>
              <c:strCache>
                <c:ptCount val="3"/>
                <c:pt idx="0">
                  <c:v>Email</c:v>
                </c:pt>
                <c:pt idx="1">
                  <c:v>Instagram</c:v>
                </c:pt>
                <c:pt idx="2">
                  <c:v>Web Banner</c:v>
                </c:pt>
              </c:strCache>
            </c:strRef>
          </c:cat>
          <c:val>
            <c:numRef>
              <c:f>Time_on_site!$C$5:$C$8</c:f>
              <c:numCache>
                <c:formatCode>0.00</c:formatCode>
                <c:ptCount val="3"/>
                <c:pt idx="0">
                  <c:v>39.431481481481484</c:v>
                </c:pt>
                <c:pt idx="1">
                  <c:v>39.709428571428575</c:v>
                </c:pt>
                <c:pt idx="2">
                  <c:v>39.455744680851062</c:v>
                </c:pt>
              </c:numCache>
            </c:numRef>
          </c:val>
          <c:extLst>
            <c:ext xmlns:c16="http://schemas.microsoft.com/office/drawing/2014/chart" uri="{C3380CC4-5D6E-409C-BE32-E72D297353CC}">
              <c16:uniqueId val="{00000001-C3A4-4DB7-9D33-9FEE744775B7}"/>
            </c:ext>
          </c:extLst>
        </c:ser>
        <c:dLbls>
          <c:showLegendKey val="0"/>
          <c:showVal val="0"/>
          <c:showCatName val="0"/>
          <c:showSerName val="0"/>
          <c:showPercent val="0"/>
          <c:showBubbleSize val="0"/>
        </c:dLbls>
        <c:gapWidth val="182"/>
        <c:axId val="958267184"/>
        <c:axId val="958278704"/>
      </c:barChart>
      <c:catAx>
        <c:axId val="9582671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8278704"/>
        <c:crosses val="autoZero"/>
        <c:auto val="1"/>
        <c:lblAlgn val="ctr"/>
        <c:lblOffset val="100"/>
        <c:noMultiLvlLbl val="0"/>
      </c:catAx>
      <c:valAx>
        <c:axId val="958278704"/>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826718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6/28/2026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6/28/2026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775597"/>
          </a:xfrm>
        </p:spPr>
        <p:txBody>
          <a:bodyPr anchor="t"/>
          <a:lstStyle/>
          <a:p>
            <a:pPr algn="ctr"/>
            <a:r>
              <a:rPr lang="en-IN" sz="2800" dirty="0"/>
              <a:t>Campaign A + Email Is the Best Strategy for New Customer Acquisition</a:t>
            </a:r>
            <a:endParaRPr lang="en-US" sz="2800" dirty="0"/>
          </a:p>
        </p:txBody>
      </p:sp>
      <p:sp>
        <p:nvSpPr>
          <p:cNvPr id="2" name="Rectangle 1">
            <a:extLst>
              <a:ext uri="{FF2B5EF4-FFF2-40B4-BE49-F238E27FC236}">
                <a16:creationId xmlns:a16="http://schemas.microsoft.com/office/drawing/2014/main" id="{477E036F-AF50-32A5-AA87-4A97F3F6A88D}"/>
              </a:ext>
            </a:extLst>
          </p:cNvPr>
          <p:cNvSpPr/>
          <p:nvPr/>
        </p:nvSpPr>
        <p:spPr>
          <a:xfrm>
            <a:off x="660333" y="5161392"/>
            <a:ext cx="10933200" cy="119275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IN" sz="1600" b="1" dirty="0">
                <a:solidFill>
                  <a:schemeClr val="tx1"/>
                </a:solidFill>
              </a:rPr>
              <a:t>Recommendation:</a:t>
            </a:r>
          </a:p>
          <a:p>
            <a:pPr marL="285750" indent="-285750">
              <a:buFont typeface="Arial" panose="020B0604020202020204" pitchFamily="34" charset="0"/>
              <a:buChar char="•"/>
            </a:pPr>
            <a:r>
              <a:rPr lang="en-IN" sz="1400" b="1" dirty="0">
                <a:solidFill>
                  <a:schemeClr val="tx1"/>
                </a:solidFill>
              </a:rPr>
              <a:t>Scale Campaign A through the Email channel</a:t>
            </a:r>
            <a:r>
              <a:rPr lang="en-IN" sz="1400" dirty="0">
                <a:solidFill>
                  <a:schemeClr val="tx1"/>
                </a:solidFill>
              </a:rPr>
              <a:t> to maximize new customer acquisition. </a:t>
            </a:r>
            <a:r>
              <a:rPr lang="en-IN" sz="1400" b="1" dirty="0">
                <a:solidFill>
                  <a:schemeClr val="tx1"/>
                </a:solidFill>
              </a:rPr>
              <a:t>Email delivered the highest new customer sales ($2,124.47), making it the strongest marketing channel.</a:t>
            </a:r>
            <a:r>
              <a:rPr lang="en-IN" sz="1400" dirty="0">
                <a:solidFill>
                  <a:schemeClr val="tx1"/>
                </a:solidFill>
              </a:rPr>
              <a:t> </a:t>
            </a:r>
          </a:p>
          <a:p>
            <a:pPr marL="285750" indent="-285750">
              <a:buFont typeface="Arial" panose="020B0604020202020204" pitchFamily="34" charset="0"/>
              <a:buChar char="•"/>
            </a:pPr>
            <a:r>
              <a:rPr lang="en-IN" sz="1400" b="1" dirty="0">
                <a:solidFill>
                  <a:schemeClr val="tx1"/>
                </a:solidFill>
              </a:rPr>
              <a:t>Campaign A generated $3,726.99 in new customer sales, outperforming Campaign B ($2,117.44).</a:t>
            </a:r>
          </a:p>
          <a:p>
            <a:pPr marL="285750" indent="-285750">
              <a:buFont typeface="Arial" panose="020B0604020202020204" pitchFamily="34" charset="0"/>
              <a:buChar char="•"/>
            </a:pPr>
            <a:r>
              <a:rPr lang="en-IN" sz="1400" b="1" dirty="0">
                <a:solidFill>
                  <a:schemeClr val="tx1"/>
                </a:solidFill>
              </a:rPr>
              <a:t>Additionally, use Instagram retargeting</a:t>
            </a:r>
            <a:r>
              <a:rPr lang="en-IN" sz="1400" dirty="0">
                <a:solidFill>
                  <a:schemeClr val="tx1"/>
                </a:solidFill>
              </a:rPr>
              <a:t> to convert highly engaged visitors who did not complete a purchase.</a:t>
            </a:r>
            <a:endParaRPr lang="en-US" sz="1400" dirty="0">
              <a:solidFill>
                <a:schemeClr val="tx1"/>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Campaign A + Email Generated the Highest New Customer Sales</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4343" y="1530910"/>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Campaign A Outperformed Campaign B for New Customers</a:t>
            </a:r>
          </a:p>
        </p:txBody>
      </p:sp>
      <p:sp>
        <p:nvSpPr>
          <p:cNvPr id="54" name="Rectangle 53">
            <a:extLst>
              <a:ext uri="{FF2B5EF4-FFF2-40B4-BE49-F238E27FC236}">
                <a16:creationId xmlns:a16="http://schemas.microsoft.com/office/drawing/2014/main" id="{AC2F7AF7-DC76-6C1A-0458-2264EDF24BF9}"/>
              </a:ext>
            </a:extLst>
          </p:cNvPr>
          <p:cNvSpPr/>
          <p:nvPr/>
        </p:nvSpPr>
        <p:spPr>
          <a:xfrm>
            <a:off x="7694426" y="1611621"/>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Instagram Visitors Showed the Highest Engagement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9" name="Chart 8">
            <a:extLst>
              <a:ext uri="{FF2B5EF4-FFF2-40B4-BE49-F238E27FC236}">
                <a16:creationId xmlns:a16="http://schemas.microsoft.com/office/drawing/2014/main" id="{8390820A-D0E6-412E-A7BD-CDB73061DA94}"/>
              </a:ext>
            </a:extLst>
          </p:cNvPr>
          <p:cNvGraphicFramePr>
            <a:graphicFrameLocks/>
          </p:cNvGraphicFramePr>
          <p:nvPr>
            <p:extLst>
              <p:ext uri="{D42A27DB-BD31-4B8C-83A1-F6EECF244321}">
                <p14:modId xmlns:p14="http://schemas.microsoft.com/office/powerpoint/2010/main" val="2749727170"/>
              </p:ext>
            </p:extLst>
          </p:nvPr>
        </p:nvGraphicFramePr>
        <p:xfrm>
          <a:off x="695959" y="2124978"/>
          <a:ext cx="2765417" cy="254121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Chart 9">
            <a:extLst>
              <a:ext uri="{FF2B5EF4-FFF2-40B4-BE49-F238E27FC236}">
                <a16:creationId xmlns:a16="http://schemas.microsoft.com/office/drawing/2014/main" id="{E1A9A5C4-BE73-49B2-BAF6-2DAF3B67556C}"/>
              </a:ext>
            </a:extLst>
          </p:cNvPr>
          <p:cNvGraphicFramePr>
            <a:graphicFrameLocks/>
          </p:cNvGraphicFramePr>
          <p:nvPr>
            <p:extLst>
              <p:ext uri="{D42A27DB-BD31-4B8C-83A1-F6EECF244321}">
                <p14:modId xmlns:p14="http://schemas.microsoft.com/office/powerpoint/2010/main" val="4143587227"/>
              </p:ext>
            </p:extLst>
          </p:nvPr>
        </p:nvGraphicFramePr>
        <p:xfrm>
          <a:off x="4116000" y="2163568"/>
          <a:ext cx="2802174" cy="254121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1" name="Chart 10">
            <a:extLst>
              <a:ext uri="{FF2B5EF4-FFF2-40B4-BE49-F238E27FC236}">
                <a16:creationId xmlns:a16="http://schemas.microsoft.com/office/drawing/2014/main" id="{EC52428F-E4B1-4237-8C43-4CF263D71FF3}"/>
              </a:ext>
            </a:extLst>
          </p:cNvPr>
          <p:cNvGraphicFramePr>
            <a:graphicFrameLocks/>
          </p:cNvGraphicFramePr>
          <p:nvPr>
            <p:extLst>
              <p:ext uri="{D42A27DB-BD31-4B8C-83A1-F6EECF244321}">
                <p14:modId xmlns:p14="http://schemas.microsoft.com/office/powerpoint/2010/main" val="2703098229"/>
              </p:ext>
            </p:extLst>
          </p:nvPr>
        </p:nvGraphicFramePr>
        <p:xfrm>
          <a:off x="7476124" y="2155066"/>
          <a:ext cx="2765418" cy="2549711"/>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3.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docProps/app.xml><?xml version="1.0" encoding="utf-8"?>
<Properties xmlns="http://schemas.openxmlformats.org/officeDocument/2006/extended-properties" xmlns:vt="http://schemas.openxmlformats.org/officeDocument/2006/docPropsVTypes">
  <Template>BCG Grid 16:9</Template>
  <TotalTime>169</TotalTime>
  <Words>101</Words>
  <Application>Microsoft Office PowerPoint</Application>
  <PresentationFormat>Widescreen</PresentationFormat>
  <Paragraphs>8</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Campaign A + Email Is the Best Strategy for New Customer Acquisition</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jafer miya</cp:lastModifiedBy>
  <cp:revision>17</cp:revision>
  <cp:lastPrinted>2016-04-06T18:59:25Z</cp:lastPrinted>
  <dcterms:created xsi:type="dcterms:W3CDTF">2025-04-28T17:07:03Z</dcterms:created>
  <dcterms:modified xsi:type="dcterms:W3CDTF">2026-06-28T11:44:09Z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